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HEALTHCONNECT RWANDA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37744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Week 6 Healthcare Operations &amp; Performance Analytics</a:t>
            </a:r>
          </a:p>
          <a:p>
            <a:pPr>
              <a:defRPr sz="1800">
                <a:solidFill>
                  <a:srgbClr val="D2DCE6"/>
                </a:solidFill>
              </a:defRPr>
            </a:pPr>
            <a:r>
              <a:t>AnalystLab Africa Experience Lab | Data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65D"/>
                </a:solidFill>
              </a:defRPr>
            </a:pPr>
            <a:r>
              <a:t>Project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46505A"/>
                </a:solidFill>
              </a:defRPr>
            </a:pPr>
            <a:r>
              <a:t>Turn healthcare operations, clinical, financial and patient-experience data into validated management insight.</a:t>
            </a:r>
          </a:p>
          <a:p>
            <a:pPr>
              <a:spcAft>
                <a:spcPts val="1600"/>
              </a:spcAft>
              <a:defRPr sz="2100">
                <a:solidFill>
                  <a:srgbClr val="46505A"/>
                </a:solidFill>
              </a:defRPr>
            </a:pPr>
            <a:r>
              <a:t>Support resource allocation and service delivery decisions.</a:t>
            </a:r>
          </a:p>
          <a:p>
            <a:pPr>
              <a:spcAft>
                <a:spcPts val="1600"/>
              </a:spcAft>
              <a:defRPr sz="2100">
                <a:solidFill>
                  <a:srgbClr val="46505A"/>
                </a:solidFill>
              </a:defRPr>
            </a:pPr>
            <a:r>
              <a:t>Use verified results only; no source data values are assumed.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65D"/>
                </a:solidFill>
              </a:defRPr>
            </a:pPr>
            <a:r>
              <a:t>Source Data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46505A"/>
                </a:solidFill>
              </a:defRPr>
            </a:pPr>
            <a:r>
              <a:t>Official brief describes 27 interconnected enterprise datasets.</a:t>
            </a:r>
          </a:p>
          <a:p>
            <a:pPr>
              <a:spcAft>
                <a:spcPts val="1600"/>
              </a:spcAft>
              <a:defRPr sz="2100">
                <a:solidFill>
                  <a:srgbClr val="46505A"/>
                </a:solidFill>
              </a:defRPr>
            </a:pPr>
            <a:r>
              <a:t>Expected domains: facilities, geography, staff, patients, clinical transactions, billing, claims, payments, revenue and feedback.</a:t>
            </a:r>
          </a:p>
          <a:p>
            <a:pPr>
              <a:spcAft>
                <a:spcPts val="1600"/>
              </a:spcAft>
              <a:defRPr sz="2100">
                <a:solidFill>
                  <a:srgbClr val="46505A"/>
                </a:solidFill>
              </a:defRPr>
            </a:pPr>
            <a:r>
              <a:t>Actual data files/database backup must be added before numeric analysis.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65D"/>
                </a:solidFill>
              </a:defRPr>
            </a:pPr>
            <a:r>
              <a:t>Business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46505A"/>
                </a:solidFill>
              </a:defRPr>
            </a:pPr>
            <a:r>
              <a:t>Hospital and department workload</a:t>
            </a:r>
          </a:p>
          <a:p>
            <a:pPr>
              <a:spcAft>
                <a:spcPts val="1600"/>
              </a:spcAft>
              <a:defRPr sz="2100">
                <a:solidFill>
                  <a:srgbClr val="46505A"/>
                </a:solidFill>
              </a:defRPr>
            </a:pPr>
            <a:r>
              <a:t>Disease and service trends</a:t>
            </a:r>
          </a:p>
          <a:p>
            <a:pPr>
              <a:spcAft>
                <a:spcPts val="1600"/>
              </a:spcAft>
              <a:defRPr sz="2100">
                <a:solidFill>
                  <a:srgbClr val="46505A"/>
                </a:solidFill>
              </a:defRPr>
            </a:pPr>
            <a:r>
              <a:t>Staff distribution and facility capacity</a:t>
            </a:r>
          </a:p>
          <a:p>
            <a:pPr>
              <a:spcAft>
                <a:spcPts val="1600"/>
              </a:spcAft>
              <a:defRPr sz="2100">
                <a:solidFill>
                  <a:srgbClr val="46505A"/>
                </a:solidFill>
              </a:defRPr>
            </a:pPr>
            <a:r>
              <a:t>Insurance and revenue performance</a:t>
            </a:r>
          </a:p>
          <a:p>
            <a:pPr>
              <a:spcAft>
                <a:spcPts val="1600"/>
              </a:spcAft>
              <a:defRPr sz="2100">
                <a:solidFill>
                  <a:srgbClr val="46505A"/>
                </a:solidFill>
              </a:defRPr>
            </a:pPr>
            <a:r>
              <a:t>Patient satisfaction and regional investment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65D"/>
                </a:solidFill>
              </a:defRPr>
            </a:pPr>
            <a:r>
              <a:t>Patient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46505A"/>
                </a:solidFill>
              </a:defRPr>
            </a:pPr>
            <a:r>
              <a:t>Registered, active, new and returning patients</a:t>
            </a:r>
          </a:p>
          <a:p>
            <a:pPr>
              <a:spcAft>
                <a:spcPts val="1600"/>
              </a:spcAft>
              <a:defRPr sz="2100">
                <a:solidFill>
                  <a:srgbClr val="46505A"/>
                </a:solidFill>
              </a:defRPr>
            </a:pPr>
            <a:r>
              <a:t>Gender, age, blood group and insurance coverage</a:t>
            </a:r>
          </a:p>
          <a:p>
            <a:pPr>
              <a:spcAft>
                <a:spcPts val="1600"/>
              </a:spcAft>
              <a:defRPr sz="2100">
                <a:solidFill>
                  <a:srgbClr val="46505A"/>
                </a:solidFill>
              </a:defRPr>
            </a:pPr>
            <a:r>
              <a:t>Patients by province/district and chronic disease</a:t>
            </a:r>
          </a:p>
          <a:p>
            <a:pPr>
              <a:spcAft>
                <a:spcPts val="1600"/>
              </a:spcAft>
              <a:defRPr sz="2100">
                <a:solidFill>
                  <a:srgbClr val="46505A"/>
                </a:solidFill>
              </a:defRPr>
            </a:pPr>
            <a:r>
              <a:t>Validate patient identity rules and protect personal information.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65D"/>
                </a:solidFill>
              </a:defRPr>
            </a:pPr>
            <a:r>
              <a:t>Clinical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46505A"/>
                </a:solidFill>
              </a:defRPr>
            </a:pPr>
            <a:r>
              <a:t>Top 20 diagnoses and severity distribution</a:t>
            </a:r>
          </a:p>
          <a:p>
            <a:pPr>
              <a:spcAft>
                <a:spcPts val="1600"/>
              </a:spcAft>
              <a:defRPr sz="2100">
                <a:solidFill>
                  <a:srgbClr val="46505A"/>
                </a:solidFill>
              </a:defRPr>
            </a:pPr>
            <a:r>
              <a:t>Laboratory and prescription volume</a:t>
            </a:r>
          </a:p>
          <a:p>
            <a:pPr>
              <a:spcAft>
                <a:spcPts val="1600"/>
              </a:spcAft>
              <a:defRPr sz="2100">
                <a:solidFill>
                  <a:srgbClr val="46505A"/>
                </a:solidFill>
              </a:defRPr>
            </a:pPr>
            <a:r>
              <a:t>Admissions, length of stay and readmission indicators</a:t>
            </a:r>
          </a:p>
          <a:p>
            <a:pPr>
              <a:spcAft>
                <a:spcPts val="1600"/>
              </a:spcAft>
              <a:defRPr sz="2100">
                <a:solidFill>
                  <a:srgbClr val="46505A"/>
                </a:solidFill>
              </a:defRPr>
            </a:pPr>
            <a:r>
              <a:t>Referral patterns and clinical workload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65D"/>
                </a:solidFill>
              </a:defRPr>
            </a:pPr>
            <a:r>
              <a:t>Financial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46505A"/>
                </a:solidFill>
              </a:defRPr>
            </a:pPr>
            <a:r>
              <a:t>Revenue by month, facility, department, service and province</a:t>
            </a:r>
          </a:p>
          <a:p>
            <a:pPr>
              <a:spcAft>
                <a:spcPts val="1600"/>
              </a:spcAft>
              <a:defRPr sz="2100">
                <a:solidFill>
                  <a:srgbClr val="46505A"/>
                </a:solidFill>
              </a:defRPr>
            </a:pPr>
            <a:r>
              <a:t>Insurance claim approval and provider analysis</a:t>
            </a:r>
          </a:p>
          <a:p>
            <a:pPr>
              <a:spcAft>
                <a:spcPts val="1600"/>
              </a:spcAft>
              <a:defRPr sz="2100">
                <a:solidFill>
                  <a:srgbClr val="46505A"/>
                </a:solidFill>
              </a:defRPr>
            </a:pPr>
            <a:r>
              <a:t>Outstanding bills, payment methods and average bill</a:t>
            </a:r>
          </a:p>
          <a:p>
            <a:pPr>
              <a:spcAft>
                <a:spcPts val="1600"/>
              </a:spcAft>
              <a:defRPr sz="2100">
                <a:solidFill>
                  <a:srgbClr val="46505A"/>
                </a:solidFill>
              </a:defRPr>
            </a:pPr>
            <a:r>
              <a:t>Reconcile billing, payments, claims and revenue definitions.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65D"/>
                </a:solidFill>
              </a:defRPr>
            </a:pPr>
            <a:r>
              <a:t>Operations &amp; Staffing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46505A"/>
                </a:solidFill>
              </a:defRPr>
            </a:pPr>
            <a:r>
              <a:t>Facility type, rooms, beds and equipment</a:t>
            </a:r>
          </a:p>
          <a:p>
            <a:pPr>
              <a:spcAft>
                <a:spcPts val="1600"/>
              </a:spcAft>
              <a:defRPr sz="2100">
                <a:solidFill>
                  <a:srgbClr val="46505A"/>
                </a:solidFill>
              </a:defRPr>
            </a:pPr>
            <a:r>
              <a:t>Bed and room utilization, where time-based data exists</a:t>
            </a:r>
          </a:p>
          <a:p>
            <a:pPr>
              <a:spcAft>
                <a:spcPts val="1600"/>
              </a:spcAft>
              <a:defRPr sz="2100">
                <a:solidFill>
                  <a:srgbClr val="46505A"/>
                </a:solidFill>
              </a:defRPr>
            </a:pPr>
            <a:r>
              <a:t>Staff by facility and department</a:t>
            </a:r>
          </a:p>
          <a:p>
            <a:pPr>
              <a:spcAft>
                <a:spcPts val="1600"/>
              </a:spcAft>
              <a:defRPr sz="2100">
                <a:solidFill>
                  <a:srgbClr val="46505A"/>
                </a:solidFill>
              </a:defRPr>
            </a:pPr>
            <a:r>
              <a:t>Use staffed capacity and valid denominators for ratios.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65D"/>
                </a:solidFill>
              </a:defRPr>
            </a:pPr>
            <a:r>
              <a:t>Patient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46505A"/>
                </a:solidFill>
              </a:defRPr>
            </a:pPr>
            <a:r>
              <a:t>Average satisfaction and rating distribution</a:t>
            </a:r>
          </a:p>
          <a:p>
            <a:pPr>
              <a:spcAft>
                <a:spcPts val="1600"/>
              </a:spcAft>
              <a:defRPr sz="2100">
                <a:solidFill>
                  <a:srgbClr val="46505A"/>
                </a:solidFill>
              </a:defRPr>
            </a:pPr>
            <a:r>
              <a:t>Satisfaction by facility and department</a:t>
            </a:r>
          </a:p>
          <a:p>
            <a:pPr>
              <a:spcAft>
                <a:spcPts val="1600"/>
              </a:spcAft>
              <a:defRPr sz="2100">
                <a:solidFill>
                  <a:srgbClr val="46505A"/>
                </a:solidFill>
              </a:defRPr>
            </a:pPr>
            <a:r>
              <a:t>Feedback themes and complaint trends</a:t>
            </a:r>
          </a:p>
          <a:p>
            <a:pPr>
              <a:spcAft>
                <a:spcPts val="1600"/>
              </a:spcAft>
              <a:defRPr sz="2100">
                <a:solidFill>
                  <a:srgbClr val="46505A"/>
                </a:solidFill>
              </a:defRPr>
            </a:pPr>
            <a:r>
              <a:t>Define rating scale and thresholds before ranking.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65D"/>
                </a:solidFill>
              </a:defRPr>
            </a:pPr>
            <a:r>
              <a:t>SQL &amp; Data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46505A"/>
                </a:solidFill>
              </a:defRPr>
            </a:pPr>
            <a:r>
              <a:t>40 SQL question templates included.</a:t>
            </a:r>
          </a:p>
          <a:p>
            <a:pPr>
              <a:spcAft>
                <a:spcPts val="1600"/>
              </a:spcAft>
              <a:defRPr sz="2100">
                <a:solidFill>
                  <a:srgbClr val="46505A"/>
                </a:solidFill>
              </a:defRPr>
            </a:pPr>
            <a:r>
              <a:t>Map proposed table/column names to the real database.</a:t>
            </a:r>
          </a:p>
          <a:p>
            <a:pPr>
              <a:spcAft>
                <a:spcPts val="1600"/>
              </a:spcAft>
              <a:defRPr sz="2100">
                <a:solidFill>
                  <a:srgbClr val="46505A"/>
                </a:solidFill>
              </a:defRPr>
            </a:pPr>
            <a:r>
              <a:t>Validate keys, missingness, duplicates, dates and cross-table joins.</a:t>
            </a:r>
          </a:p>
          <a:p>
            <a:pPr>
              <a:spcAft>
                <a:spcPts val="1600"/>
              </a:spcAft>
              <a:defRPr sz="2100">
                <a:solidFill>
                  <a:srgbClr val="46505A"/>
                </a:solidFill>
              </a:defRPr>
            </a:pPr>
            <a:r>
              <a:t>Reconcile SQL totals with Power BI.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65D"/>
                </a:solidFill>
              </a:defRPr>
            </a:pPr>
            <a:r>
              <a:t>Power BI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46505A"/>
                </a:solidFill>
              </a:defRPr>
            </a:pPr>
            <a:r>
              <a:t>Six pages: Executive, Patient, Clinical, Financial, Operational and Patient Experience.</a:t>
            </a:r>
          </a:p>
          <a:p>
            <a:pPr>
              <a:spcAft>
                <a:spcPts val="1600"/>
              </a:spcAft>
              <a:defRPr sz="2100">
                <a:solidFill>
                  <a:srgbClr val="46505A"/>
                </a:solidFill>
              </a:defRPr>
            </a:pPr>
            <a:r>
              <a:t>Use slicers, drill-through, bookmarks, tooltips, hierarchies, conditional formatting, maps and DAX.</a:t>
            </a:r>
          </a:p>
          <a:p>
            <a:pPr>
              <a:spcAft>
                <a:spcPts val="1600"/>
              </a:spcAft>
              <a:defRPr sz="2100">
                <a:solidFill>
                  <a:srgbClr val="46505A"/>
                </a:solidFill>
              </a:defRPr>
            </a:pPr>
            <a:r>
              <a:t>Test time intelligence, dynamic titles, decomposition tree, key influencers and forecasts only where appropriate.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65D"/>
                </a:solidFill>
              </a:defRPr>
            </a:pPr>
            <a:r>
              <a:t>Recommendations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46505A"/>
                </a:solidFill>
              </a:defRPr>
            </a:pPr>
            <a:r>
              <a:t>Prioritize bottlenecks only after validating workload and capacity.</a:t>
            </a:r>
          </a:p>
          <a:p>
            <a:pPr>
              <a:spcAft>
                <a:spcPts val="1600"/>
              </a:spcAft>
              <a:defRPr sz="2100">
                <a:solidFill>
                  <a:srgbClr val="46505A"/>
                </a:solidFill>
              </a:defRPr>
            </a:pPr>
            <a:r>
              <a:t>Target investment using patient volume, geography, access and outcome measures.</a:t>
            </a:r>
          </a:p>
          <a:p>
            <a:pPr>
              <a:spcAft>
                <a:spcPts val="1600"/>
              </a:spcAft>
              <a:defRPr sz="2100">
                <a:solidFill>
                  <a:srgbClr val="46505A"/>
                </a:solidFill>
              </a:defRPr>
            </a:pPr>
            <a:r>
              <a:t>Improve revenue-cycle processes after reconciliation.</a:t>
            </a:r>
          </a:p>
          <a:p>
            <a:pPr>
              <a:spcAft>
                <a:spcPts val="1600"/>
              </a:spcAft>
              <a:defRPr sz="2100">
                <a:solidFill>
                  <a:srgbClr val="46505A"/>
                </a:solidFill>
              </a:defRPr>
            </a:pPr>
            <a:r>
              <a:t>Keep clinical conclusions evidence-based and privacy-safe.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65D"/>
                </a:solidFill>
              </a:defRPr>
            </a:pPr>
            <a:r>
              <a:t>Conclusion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46505A"/>
                </a:solidFill>
              </a:defRPr>
            </a:pPr>
            <a:r>
              <a:t>Add actual healthcare datasets/database backup.</a:t>
            </a:r>
          </a:p>
          <a:p>
            <a:pPr>
              <a:spcAft>
                <a:spcPts val="1600"/>
              </a:spcAft>
              <a:defRPr sz="2100">
                <a:solidFill>
                  <a:srgbClr val="46505A"/>
                </a:solidFill>
              </a:defRPr>
            </a:pPr>
            <a:r>
              <a:t>Execute and validate SQL queries.</a:t>
            </a:r>
          </a:p>
          <a:p>
            <a:pPr>
              <a:spcAft>
                <a:spcPts val="1600"/>
              </a:spcAft>
              <a:defRPr sz="2100">
                <a:solidFill>
                  <a:srgbClr val="46505A"/>
                </a:solidFill>
              </a:defRPr>
            </a:pPr>
            <a:r>
              <a:t>Populate report and dashboard with evidence-based results.</a:t>
            </a:r>
          </a:p>
          <a:p>
            <a:pPr>
              <a:spcAft>
                <a:spcPts val="1600"/>
              </a:spcAft>
              <a:defRPr sz="2100">
                <a:solidFill>
                  <a:srgbClr val="46505A"/>
                </a:solidFill>
              </a:defRPr>
            </a:pPr>
            <a:r>
              <a:t>Build native .pbix and export dashboard PDF in Power BI Desktop.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